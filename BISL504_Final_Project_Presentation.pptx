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261B-A10C-D3BE-AB0F-D817E00AE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22370-B955-35B2-A62B-E312C71CB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261E0-288C-1016-7AE4-2EEC0626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F73B6-3797-EE36-5BA5-8F2F68590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71F3-D3E5-1965-9EAD-427A1DAA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19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90C6-EF41-6E6D-0ED0-E433D761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6B5B6-036B-0F6D-5B0E-194226A51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FA089-B88D-5A53-C36B-1A7EE153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43806-2DC8-01E8-733A-59875433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D2AB4-AA83-214C-E8A9-8540798E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7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225D-A893-EC76-2426-E44375003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6F492-283F-1D2A-9609-77B66DB07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4EC72-1B1C-99AE-988B-BB264D2B3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93685-99D4-7F21-3A43-EBD74C8C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C780F-200F-5D61-D832-60965491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47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623C-C461-87F0-B348-D378D95D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228F-131A-0BB8-C12E-CCDB5D945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8D0EF-B421-530F-482E-17BAAB668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01AC2-884F-9A71-054F-18FC5F99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3517-836B-259A-4C92-9F0FBA95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02C80-9E4F-02F0-DC58-04D1A222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2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A4D9-7BC7-5B5E-04A3-A485310A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66213-77F5-9D70-DD64-6795E0D4F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E446B-7C66-1F76-0D79-AF484CF9E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BA443-0D0F-99CC-88EF-1D00E0B66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62AE3-EDA2-DD7A-AF3D-2AF42BA07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8FFB3-064D-5E7D-B2D4-F07261C4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2ED826-8701-A829-F6F9-3B445564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A6FB1-1095-196D-6037-4CA3F665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40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823D-2984-0E93-434E-E7B0D426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C4952-5EC4-F919-AEC4-86456458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5A001-D357-283C-2C8B-892C0019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31073-5BA7-15EA-0CDE-8126FE8C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91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5180C-42AA-DC5A-1720-22E95742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6D758-2D30-DC36-7120-5E183238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BD75D-33AE-39CB-7BFC-85822565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8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0745-B38E-E15C-0B9C-96F9E0CD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1FEC0-33DC-E7E5-407D-E58A46DD6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0D4D8-F770-9A93-8B50-1E643AF7F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4EEFA-4436-CA62-5066-737012E43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A4E04-3259-DC2A-35D3-D339A411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BB82D-1454-C5ED-A8D2-3BA8EBFC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4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2C3C-B119-941D-E1AC-E0AB759D5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032E5-4295-3BDF-369D-C6B3D996B2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BF0F6-C760-38DA-D76C-2ABC7E562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0F5BE-76EB-F2CA-514F-1C6B0905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1C5E4-A2BB-3A00-4410-BD74CF51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25E2B-DA0E-405A-B70F-4C6B8070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185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6894-BC00-C387-18B3-7597316F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4B627-C8EE-901A-3913-FF5F937DB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639C3-6D22-1F2A-B2DA-1C2ABB7C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86139-33CC-591A-464F-CCE0F799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99618-5E64-203D-9E87-E7149157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418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642E4-4E53-A069-106D-6917DAF6D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189DA-C6FB-3166-6698-2FE6AC7D1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30C0F-BDD4-CCB5-30D6-AC6638A83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4AA2C-7179-8AB7-080B-414914D9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40A20-99A7-CAE9-24FD-6ECA87CE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6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E5403-5875-144B-1DFC-DD358D6D3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B03AB-CC76-4CFD-7CAD-7350C7632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B0B8-944F-E7B4-3E21-B82EA4852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DB2A3-85A8-4F95-B784-8AE290CBA21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F9FED-713B-185C-707D-5ECE52DEB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CBF01-EADA-AC7F-D38A-1DC6C2896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B7B65-EDAE-426B-949F-08FC2CFAFB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32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</p:sp>
      <p:sp>
        <p:nvSpPr>
          <p:cNvPr id="3" name="Shape 3"/>
          <p:cNvSpPr/>
          <p:nvPr/>
        </p:nvSpPr>
        <p:spPr>
          <a:xfrm>
            <a:off x="713232" y="914400"/>
            <a:ext cx="64008" cy="416052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1051560" y="1005840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1">
                <a:solidFill>
                  <a:srgbClr val="A9C7DB"/>
                </a:solidFill>
                <a:latin typeface="Aptos"/>
              </a:rPr>
              <a:t>BISL504   /   DATA VISUALIZATION LAB</a:t>
            </a:r>
            <a:endParaRPr lang="en-US" sz="1300"/>
          </a:p>
        </p:txBody>
      </p:sp>
      <p:sp>
        <p:nvSpPr>
          <p:cNvPr id="5" name="Text 5"/>
          <p:cNvSpPr txBox="1"/>
          <p:nvPr/>
        </p:nvSpPr>
        <p:spPr>
          <a:xfrm>
            <a:off x="1024128" y="1856232"/>
            <a:ext cx="987552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3600" b="1">
                <a:solidFill>
                  <a:srgbClr val="FFFFFF"/>
                </a:solidFill>
                <a:latin typeface="Aptos"/>
              </a:rPr>
              <a:t>Electric vehicle</a:t>
            </a:r>
            <a:endParaRPr lang="en-US" sz="3600"/>
          </a:p>
          <a:p>
            <a:pPr/>
            <a:r>
              <a:rPr lang="en-US" sz="3600" b="1">
                <a:solidFill>
                  <a:srgbClr val="FFFFFF"/>
                </a:solidFill>
                <a:latin typeface="Aptos"/>
              </a:rPr>
              <a:t>adoption across countries</a:t>
            </a:r>
            <a:endParaRPr lang="en-US" sz="3600"/>
          </a:p>
        </p:txBody>
      </p:sp>
      <p:sp>
        <p:nvSpPr>
          <p:cNvPr id="6" name="Text 6"/>
          <p:cNvSpPr txBox="1"/>
          <p:nvPr/>
        </p:nvSpPr>
        <p:spPr>
          <a:xfrm>
            <a:off x="1051560" y="3749040"/>
            <a:ext cx="886968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700" b="0">
                <a:solidFill>
                  <a:srgbClr val="D6E3EC"/>
                </a:solidFill>
                <a:latin typeface="Aptos"/>
              </a:rPr>
              <a:t>Interactive exploration of market share, vehicle sales,</a:t>
            </a:r>
            <a:endParaRPr lang="en-US" sz="1700"/>
          </a:p>
          <a:p>
            <a:pPr/>
            <a:r>
              <a:rPr lang="en-US" sz="1700" b="0">
                <a:solidFill>
                  <a:srgbClr val="D6E3EC"/>
                </a:solidFill>
                <a:latin typeface="Aptos"/>
              </a:rPr>
              <a:t>charging infrastructure and transport emissions</a:t>
            </a:r>
            <a:endParaRPr lang="en-US" sz="1700"/>
          </a:p>
        </p:txBody>
      </p:sp>
      <p:sp>
        <p:nvSpPr>
          <p:cNvPr id="7" name="Text 7"/>
          <p:cNvSpPr txBox="1"/>
          <p:nvPr/>
        </p:nvSpPr>
        <p:spPr>
          <a:xfrm>
            <a:off x="1051560" y="59253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A9C7DB"/>
                </a:solidFill>
                <a:latin typeface="Aptos"/>
              </a:rPr>
              <a:t>FINAL PROJECT PRESENTATION   •   V SEMESTER   •   2026–27</a:t>
            </a:r>
            <a:endParaRPr lang="en-US" sz="1100"/>
          </a:p>
        </p:txBody>
      </p:sp>
      <p:sp>
        <p:nvSpPr>
          <p:cNvPr id="8" name="Text 8"/>
          <p:cNvSpPr txBox="1"/>
          <p:nvPr/>
        </p:nvSpPr>
        <p:spPr>
          <a:xfrm>
            <a:off x="10469880" y="65013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850" b="0">
                <a:solidFill>
                  <a:srgbClr val="B7C9D7"/>
                </a:solidFill>
                <a:latin typeface="Aptos"/>
              </a:rPr>
              <a:t>BISL504  /  01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58368" y="384048"/>
            <a:ext cx="108813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700" b="1">
                <a:solidFill>
                  <a:srgbClr val="183B56"/>
                </a:solidFill>
                <a:latin typeface="Aptos"/>
              </a:rPr>
              <a:t>Decision question and dataset</a:t>
            </a:r>
            <a:endParaRPr lang="en-US" sz="2700"/>
          </a:p>
        </p:txBody>
      </p:sp>
      <p:sp>
        <p:nvSpPr>
          <p:cNvPr id="4" name="Shape 4"/>
          <p:cNvSpPr/>
          <p:nvPr/>
        </p:nvSpPr>
        <p:spPr>
          <a:xfrm>
            <a:off x="658368" y="987552"/>
            <a:ext cx="530352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50" b="0">
                <a:solidFill>
                  <a:srgbClr val="526777"/>
                </a:solidFill>
                <a:latin typeface="Aptos"/>
              </a:rPr>
              <a:t>Explore adoption patterns across 25 country markets from 2010 to 2025.</a:t>
            </a:r>
            <a:endParaRPr lang="en-US" sz="1250"/>
          </a:p>
        </p:txBody>
      </p:sp>
      <p:sp>
        <p:nvSpPr>
          <p:cNvPr id="6" name="Text 6"/>
          <p:cNvSpPr txBox="1"/>
          <p:nvPr/>
        </p:nvSpPr>
        <p:spPr>
          <a:xfrm>
            <a:off x="749808" y="1783080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0072B2"/>
                </a:solidFill>
                <a:latin typeface="Aptos"/>
              </a:rPr>
              <a:t>GUIDING QUESTION</a:t>
            </a:r>
            <a:endParaRPr lang="en-US" sz="1100"/>
          </a:p>
        </p:txBody>
      </p:sp>
      <p:sp>
        <p:nvSpPr>
          <p:cNvPr id="7" name="Text 7"/>
          <p:cNvSpPr txBox="1"/>
          <p:nvPr/>
        </p:nvSpPr>
        <p:spPr>
          <a:xfrm>
            <a:off x="749808" y="2148840"/>
            <a:ext cx="498348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500" b="1">
                <a:solidFill>
                  <a:srgbClr val="183B56"/>
                </a:solidFill>
                <a:latin typeface="Aptos"/>
              </a:rPr>
              <a:t>How has EV adoption changed, and how does it vary across countries?</a:t>
            </a:r>
            <a:endParaRPr lang="en-US" sz="2500"/>
          </a:p>
        </p:txBody>
      </p:sp>
      <p:sp>
        <p:nvSpPr>
          <p:cNvPr id="8" name="Line 8"/>
          <p:cNvSpPr/>
          <p:nvPr/>
        </p:nvSpPr>
        <p:spPr>
          <a:xfrm>
            <a:off x="6080760" y="1773936"/>
            <a:ext cx="914" cy="3849624"/>
          </a:xfrm>
          <a:prstGeom prst="line">
            <a:avLst/>
          </a:prstGeom>
          <a:ln w="15240">
            <a:solidFill>
              <a:srgbClr val="D8E1E8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6446520" y="1783080"/>
            <a:ext cx="4937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0072B2"/>
                </a:solidFill>
                <a:latin typeface="Aptos"/>
              </a:rPr>
              <a:t>ANALYSIS FRAME</a:t>
            </a:r>
            <a:endParaRPr lang="en-US" sz="1100"/>
          </a:p>
        </p:txBody>
      </p:sp>
      <p:sp>
        <p:nvSpPr>
          <p:cNvPr id="10" name="Text 10"/>
          <p:cNvSpPr txBox="1"/>
          <p:nvPr/>
        </p:nvSpPr>
        <p:spPr>
          <a:xfrm>
            <a:off x="6446520" y="2212848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300" b="1">
                <a:solidFill>
                  <a:srgbClr val="183B56"/>
                </a:solidFill>
                <a:latin typeface="Aptos"/>
              </a:rPr>
              <a:t>400</a:t>
            </a:r>
            <a:endParaRPr lang="en-US" sz="2300"/>
          </a:p>
        </p:txBody>
      </p:sp>
      <p:sp>
        <p:nvSpPr>
          <p:cNvPr id="11" name="Text 11"/>
          <p:cNvSpPr txBox="1"/>
          <p:nvPr/>
        </p:nvSpPr>
        <p:spPr>
          <a:xfrm>
            <a:off x="8028432" y="2276856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0">
                <a:solidFill>
                  <a:srgbClr val="526777"/>
                </a:solidFill>
                <a:latin typeface="Aptos"/>
              </a:rPr>
              <a:t>country-year rows</a:t>
            </a:r>
            <a:endParaRPr lang="en-US" sz="1500"/>
          </a:p>
        </p:txBody>
      </p:sp>
      <p:sp>
        <p:nvSpPr>
          <p:cNvPr id="12" name="Text 12"/>
          <p:cNvSpPr txBox="1"/>
          <p:nvPr/>
        </p:nvSpPr>
        <p:spPr>
          <a:xfrm>
            <a:off x="6446520" y="31546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300" b="1">
                <a:solidFill>
                  <a:srgbClr val="183B56"/>
                </a:solidFill>
                <a:latin typeface="Aptos"/>
              </a:rPr>
              <a:t>25</a:t>
            </a:r>
            <a:endParaRPr lang="en-US" sz="2300"/>
          </a:p>
        </p:txBody>
      </p:sp>
      <p:sp>
        <p:nvSpPr>
          <p:cNvPr id="13" name="Text 13"/>
          <p:cNvSpPr txBox="1"/>
          <p:nvPr/>
        </p:nvSpPr>
        <p:spPr>
          <a:xfrm>
            <a:off x="8028432" y="3218688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0">
                <a:solidFill>
                  <a:srgbClr val="526777"/>
                </a:solidFill>
                <a:latin typeface="Aptos"/>
              </a:rPr>
              <a:t>countries</a:t>
            </a:r>
            <a:endParaRPr lang="en-US" sz="1500"/>
          </a:p>
        </p:txBody>
      </p:sp>
      <p:sp>
        <p:nvSpPr>
          <p:cNvPr id="14" name="Text 14"/>
          <p:cNvSpPr txBox="1"/>
          <p:nvPr/>
        </p:nvSpPr>
        <p:spPr>
          <a:xfrm>
            <a:off x="6446520" y="4096512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300" b="1">
                <a:solidFill>
                  <a:srgbClr val="183B56"/>
                </a:solidFill>
                <a:latin typeface="Aptos"/>
              </a:rPr>
              <a:t>16 years</a:t>
            </a:r>
            <a:endParaRPr lang="en-US" sz="2300"/>
          </a:p>
        </p:txBody>
      </p:sp>
      <p:sp>
        <p:nvSpPr>
          <p:cNvPr id="15" name="Text 15"/>
          <p:cNvSpPr txBox="1"/>
          <p:nvPr/>
        </p:nvSpPr>
        <p:spPr>
          <a:xfrm>
            <a:off x="8028432" y="416052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0">
                <a:solidFill>
                  <a:srgbClr val="526777"/>
                </a:solidFill>
                <a:latin typeface="Aptos"/>
              </a:rPr>
              <a:t>2010–2025</a:t>
            </a:r>
            <a:endParaRPr lang="en-US" sz="1500"/>
          </a:p>
        </p:txBody>
      </p:sp>
      <p:sp>
        <p:nvSpPr>
          <p:cNvPr id="16" name="Text 16"/>
          <p:cNvSpPr txBox="1"/>
          <p:nvPr/>
        </p:nvSpPr>
        <p:spPr>
          <a:xfrm>
            <a:off x="749808" y="4233672"/>
            <a:ext cx="498348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0">
                <a:solidFill>
                  <a:srgbClr val="526777"/>
                </a:solidFill>
                <a:latin typeface="Aptos"/>
              </a:rPr>
              <a:t>Intended reader: an analyst comparing country adoption patterns and deciding where to investigate further.</a:t>
            </a:r>
            <a:endParaRPr lang="en-US" sz="1500"/>
          </a:p>
        </p:txBody>
      </p:sp>
      <p:sp>
        <p:nvSpPr>
          <p:cNvPr id="17" name="Shape 17"/>
          <p:cNvSpPr/>
          <p:nvPr/>
        </p:nvSpPr>
        <p:spPr>
          <a:xfrm>
            <a:off x="749808" y="5230368"/>
            <a:ext cx="10561320" cy="658368"/>
          </a:xfrm>
          <a:prstGeom prst="rect">
            <a:avLst/>
          </a:prstGeom>
          <a:solidFill>
            <a:srgbClr val="EAF2F7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932688" y="5321808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1">
                <a:solidFill>
                  <a:srgbClr val="183B56"/>
                </a:solidFill>
                <a:latin typeface="Aptos"/>
              </a:rPr>
              <a:t>Data provenance and licence are not recorded in the project files; confirm them before submission.</a:t>
            </a:r>
            <a:endParaRPr lang="en-US" sz="1300"/>
          </a:p>
        </p:txBody>
      </p:sp>
      <p:sp>
        <p:nvSpPr>
          <p:cNvPr id="19" name="Text 19"/>
          <p:cNvSpPr txBox="1"/>
          <p:nvPr/>
        </p:nvSpPr>
        <p:spPr>
          <a:xfrm>
            <a:off x="10469880" y="65013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850" b="0">
                <a:solidFill>
                  <a:srgbClr val="526777"/>
                </a:solidFill>
                <a:latin typeface="Aptos"/>
              </a:rPr>
              <a:t>BISL504  /  02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58368" y="384048"/>
            <a:ext cx="108813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700" b="1">
                <a:solidFill>
                  <a:srgbClr val="183B56"/>
                </a:solidFill>
                <a:latin typeface="Aptos"/>
              </a:rPr>
              <a:t>Preparation and analytical scope</a:t>
            </a:r>
            <a:endParaRPr lang="en-US" sz="2700"/>
          </a:p>
        </p:txBody>
      </p:sp>
      <p:sp>
        <p:nvSpPr>
          <p:cNvPr id="4" name="Shape 4"/>
          <p:cNvSpPr/>
          <p:nvPr/>
        </p:nvSpPr>
        <p:spPr>
          <a:xfrm>
            <a:off x="658368" y="987552"/>
            <a:ext cx="530352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50" b="0">
                <a:solidFill>
                  <a:srgbClr val="526777"/>
                </a:solidFill>
                <a:latin typeface="Aptos"/>
              </a:rPr>
              <a:t>The saved clean file is the shared basis for the notebook and dashboard.</a:t>
            </a:r>
            <a:endParaRPr lang="en-US" sz="1250"/>
          </a:p>
        </p:txBody>
      </p:sp>
      <p:sp>
        <p:nvSpPr>
          <p:cNvPr id="6" name="Shape 6"/>
          <p:cNvSpPr/>
          <p:nvPr/>
        </p:nvSpPr>
        <p:spPr>
          <a:xfrm>
            <a:off x="822960" y="1965960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1024128" y="1847088"/>
            <a:ext cx="4828032" cy="64922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0">
                <a:solidFill>
                  <a:srgbClr val="183B56"/>
                </a:solidFill>
                <a:latin typeface="Aptos"/>
              </a:rPr>
              <a:t>Repaired formatting artifacts in column names.</a:t>
            </a:r>
            <a:endParaRPr lang="en-US" sz="1500"/>
          </a:p>
        </p:txBody>
      </p:sp>
      <p:sp>
        <p:nvSpPr>
          <p:cNvPr id="8" name="Shape 8"/>
          <p:cNvSpPr/>
          <p:nvPr/>
        </p:nvSpPr>
        <p:spPr>
          <a:xfrm>
            <a:off x="822960" y="2670048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024128" y="2551176"/>
            <a:ext cx="4828032" cy="64922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0">
                <a:solidFill>
                  <a:srgbClr val="183B56"/>
                </a:solidFill>
                <a:latin typeface="Aptos"/>
              </a:rPr>
              <a:t>Converted year and analysis fields to numeric values.</a:t>
            </a:r>
            <a:endParaRPr lang="en-US" sz="1500"/>
          </a:p>
        </p:txBody>
      </p:sp>
      <p:sp>
        <p:nvSpPr>
          <p:cNvPr id="10" name="Shape 10"/>
          <p:cNvSpPr/>
          <p:nvPr/>
        </p:nvSpPr>
        <p:spPr>
          <a:xfrm>
            <a:off x="822960" y="3374136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4128" y="3255264"/>
            <a:ext cx="4828032" cy="64922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0">
                <a:solidFill>
                  <a:srgbClr val="183B56"/>
                </a:solidFill>
                <a:latin typeface="Aptos"/>
              </a:rPr>
              <a:t>Trimmed country labels; removed rows without country or year.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822960" y="4078224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4128" y="3959352"/>
            <a:ext cx="4828032" cy="64922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0">
                <a:solidFill>
                  <a:srgbClr val="183B56"/>
                </a:solidFill>
                <a:latin typeface="Aptos"/>
              </a:rPr>
              <a:t>Kept the country-year grain for comparisons over time.</a:t>
            </a:r>
            <a:endParaRPr lang="en-US" sz="1500"/>
          </a:p>
        </p:txBody>
      </p:sp>
      <p:sp>
        <p:nvSpPr>
          <p:cNvPr id="14" name="Line 14"/>
          <p:cNvSpPr/>
          <p:nvPr/>
        </p:nvSpPr>
        <p:spPr>
          <a:xfrm>
            <a:off x="6126480" y="1810512"/>
            <a:ext cx="914" cy="3602736"/>
          </a:xfrm>
          <a:prstGeom prst="line">
            <a:avLst/>
          </a:prstGeom>
          <a:ln w="15240">
            <a:solidFill>
              <a:srgbClr val="D8E1E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6473952" y="186537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0072B2"/>
                </a:solidFill>
                <a:latin typeface="Aptos"/>
              </a:rPr>
              <a:t>DATA CHECKS</a:t>
            </a:r>
            <a:endParaRPr lang="en-US" sz="1100"/>
          </a:p>
        </p:txBody>
      </p:sp>
      <p:sp>
        <p:nvSpPr>
          <p:cNvPr id="16" name="Text 16"/>
          <p:cNvSpPr txBox="1"/>
          <p:nvPr/>
        </p:nvSpPr>
        <p:spPr>
          <a:xfrm>
            <a:off x="6473952" y="2286000"/>
            <a:ext cx="47091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600" b="1">
                <a:solidFill>
                  <a:srgbClr val="183B56"/>
                </a:solidFill>
                <a:latin typeface="Aptos"/>
              </a:rPr>
              <a:t>No missing country or year values in the saved 400-row file.</a:t>
            </a:r>
            <a:endParaRPr lang="en-US" sz="1600"/>
          </a:p>
        </p:txBody>
      </p:sp>
      <p:sp>
        <p:nvSpPr>
          <p:cNvPr id="17" name="Text 17"/>
          <p:cNvSpPr txBox="1"/>
          <p:nvPr/>
        </p:nvSpPr>
        <p:spPr>
          <a:xfrm>
            <a:off x="6473952" y="3182112"/>
            <a:ext cx="47091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526777"/>
                </a:solidFill>
                <a:latin typeface="Aptos"/>
              </a:rPr>
              <a:t>25 missing values in ev_growth_rate_yoy; the current views do not use that field.</a:t>
            </a:r>
            <a:endParaRPr lang="en-US" sz="1400"/>
          </a:p>
        </p:txBody>
      </p:sp>
      <p:sp>
        <p:nvSpPr>
          <p:cNvPr id="18" name="Text 18"/>
          <p:cNvSpPr txBox="1"/>
          <p:nvPr/>
        </p:nvSpPr>
        <p:spPr>
          <a:xfrm>
            <a:off x="6473952" y="4178808"/>
            <a:ext cx="4709160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183B56"/>
                </a:solidFill>
                <a:latin typeface="Aptos"/>
              </a:rPr>
              <a:t>Country means are unweighted. Country-level patterns do not establish that charging access causes EV adoption or emissions changes.</a:t>
            </a:r>
            <a:endParaRPr lang="en-US" sz="1400"/>
          </a:p>
        </p:txBody>
      </p:sp>
      <p:sp>
        <p:nvSpPr>
          <p:cNvPr id="19" name="Text 19"/>
          <p:cNvSpPr txBox="1"/>
          <p:nvPr/>
        </p:nvSpPr>
        <p:spPr>
          <a:xfrm>
            <a:off x="822960" y="5715000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50" b="0">
                <a:solidFill>
                  <a:srgbClr val="526777"/>
                </a:solidFill>
                <a:latin typeface="Aptos"/>
              </a:rPr>
              <a:t>Pipeline files: CleanData.ipynb  →  ev_vs_petrol_dataset_cleaned.csv  →  Graph.ipynb / app.py</a:t>
            </a:r>
            <a:endParaRPr lang="en-US" sz="1150"/>
          </a:p>
        </p:txBody>
      </p:sp>
      <p:sp>
        <p:nvSpPr>
          <p:cNvPr id="20" name="Text 20"/>
          <p:cNvSpPr txBox="1"/>
          <p:nvPr/>
        </p:nvSpPr>
        <p:spPr>
          <a:xfrm>
            <a:off x="10469880" y="65013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850" b="0">
                <a:solidFill>
                  <a:srgbClr val="526777"/>
                </a:solidFill>
                <a:latin typeface="Aptos"/>
              </a:rPr>
              <a:t>BISL504  /  03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58368" y="384048"/>
            <a:ext cx="108813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700" b="1">
                <a:solidFill>
                  <a:srgbClr val="183B56"/>
                </a:solidFill>
                <a:latin typeface="Aptos"/>
              </a:rPr>
              <a:t>Dashboard structure and interaction</a:t>
            </a:r>
            <a:endParaRPr lang="en-US" sz="2700"/>
          </a:p>
        </p:txBody>
      </p:sp>
      <p:sp>
        <p:nvSpPr>
          <p:cNvPr id="4" name="Shape 4"/>
          <p:cNvSpPr/>
          <p:nvPr/>
        </p:nvSpPr>
        <p:spPr>
          <a:xfrm>
            <a:off x="658368" y="987552"/>
            <a:ext cx="530352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50" b="0">
                <a:solidFill>
                  <a:srgbClr val="526777"/>
                </a:solidFill>
                <a:latin typeface="Aptos"/>
              </a:rPr>
              <a:t>A shared filter frame keeps the headline measures and charts in sync.</a:t>
            </a:r>
            <a:endParaRPr lang="en-US" sz="1250"/>
          </a:p>
        </p:txBody>
      </p:sp>
      <p:sp>
        <p:nvSpPr>
          <p:cNvPr id="6" name="Text 6"/>
          <p:cNvSpPr txBox="1"/>
          <p:nvPr/>
        </p:nvSpPr>
        <p:spPr>
          <a:xfrm>
            <a:off x="868680" y="199339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1">
                <a:solidFill>
                  <a:srgbClr val="183B56"/>
                </a:solidFill>
                <a:latin typeface="Aptos"/>
              </a:rPr>
              <a:t>Country selection</a:t>
            </a:r>
            <a:endParaRPr lang="en-US" sz="1500"/>
          </a:p>
        </p:txBody>
      </p:sp>
      <p:sp>
        <p:nvSpPr>
          <p:cNvPr id="7" name="Text 7"/>
          <p:cNvSpPr txBox="1"/>
          <p:nvPr/>
        </p:nvSpPr>
        <p:spPr>
          <a:xfrm>
            <a:off x="3703320" y="199339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1">
                <a:solidFill>
                  <a:srgbClr val="183B56"/>
                </a:solidFill>
                <a:latin typeface="Aptos"/>
              </a:rPr>
              <a:t>Shared filtered rows</a:t>
            </a:r>
            <a:endParaRPr lang="en-US" sz="1500"/>
          </a:p>
        </p:txBody>
      </p:sp>
      <p:sp>
        <p:nvSpPr>
          <p:cNvPr id="8" name="Text 8"/>
          <p:cNvSpPr txBox="1"/>
          <p:nvPr/>
        </p:nvSpPr>
        <p:spPr>
          <a:xfrm>
            <a:off x="7360920" y="199339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1">
                <a:solidFill>
                  <a:srgbClr val="183B56"/>
                </a:solidFill>
                <a:latin typeface="Aptos"/>
              </a:rPr>
              <a:t>Year range + measure</a:t>
            </a:r>
            <a:endParaRPr lang="en-US" sz="1500"/>
          </a:p>
        </p:txBody>
      </p:sp>
      <p:sp>
        <p:nvSpPr>
          <p:cNvPr id="9" name="Line 9"/>
          <p:cNvSpPr/>
          <p:nvPr/>
        </p:nvSpPr>
        <p:spPr>
          <a:xfrm>
            <a:off x="2880360" y="2258568"/>
            <a:ext cx="548640" cy="914"/>
          </a:xfrm>
          <a:prstGeom prst="line">
            <a:avLst/>
          </a:prstGeom>
          <a:ln w="25400">
            <a:solidFill>
              <a:srgbClr val="0072B2"/>
            </a:solidFill>
          </a:ln>
        </p:spPr>
      </p:sp>
      <p:sp>
        <p:nvSpPr>
          <p:cNvPr id="10" name="Line 10"/>
          <p:cNvSpPr/>
          <p:nvPr/>
        </p:nvSpPr>
        <p:spPr>
          <a:xfrm>
            <a:off x="6537960" y="2258568"/>
            <a:ext cx="548640" cy="914"/>
          </a:xfrm>
          <a:prstGeom prst="line">
            <a:avLst/>
          </a:prstGeom>
          <a:ln w="25400">
            <a:solidFill>
              <a:srgbClr val="0072B2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68680" y="3154680"/>
            <a:ext cx="2743200" cy="1691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526777"/>
                </a:solidFill>
                <a:latin typeface="Aptos"/>
              </a:rPr>
              <a:t>KPI strip</a:t>
            </a:r>
            <a:endParaRPr lang="en-US" sz="1400"/>
          </a:p>
          <a:p>
            <a:pPr/>
            <a:r>
              <a:rPr lang="en-US" sz="1400" b="0">
                <a:solidFill>
                  <a:srgbClr val="526777"/>
                </a:solidFill>
                <a:latin typeface="Aptos"/>
              </a:rPr>
              <a:t>Mean share · EV sales · countries</a:t>
            </a:r>
            <a:endParaRPr lang="en-US" sz="1400"/>
          </a:p>
        </p:txBody>
      </p:sp>
      <p:sp>
        <p:nvSpPr>
          <p:cNvPr id="12" name="Text 12"/>
          <p:cNvSpPr txBox="1"/>
          <p:nvPr/>
        </p:nvSpPr>
        <p:spPr>
          <a:xfrm>
            <a:off x="4251960" y="3154680"/>
            <a:ext cx="3154680" cy="1691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526777"/>
                </a:solidFill>
                <a:latin typeface="Aptos"/>
              </a:rPr>
              <a:t>Main views</a:t>
            </a:r>
            <a:endParaRPr lang="en-US" sz="1400"/>
          </a:p>
          <a:p>
            <a:pPr/>
            <a:r>
              <a:rPr lang="en-US" sz="1400" b="0">
                <a:solidFill>
                  <a:srgbClr val="526777"/>
                </a:solidFill>
                <a:latin typeface="Aptos"/>
              </a:rPr>
              <a:t>Market-share trend · country ranking</a:t>
            </a:r>
            <a:endParaRPr lang="en-US" sz="1400"/>
          </a:p>
          <a:p>
            <a:pPr/>
            <a:r>
              <a:rPr lang="en-US" sz="1400" b="0">
                <a:solidFill>
                  <a:srgbClr val="526777"/>
                </a:solidFill>
                <a:latin typeface="Aptos"/>
              </a:rPr>
              <a:t>Charging stations vs share · emissions</a:t>
            </a:r>
            <a:endParaRPr lang="en-US" sz="1400"/>
          </a:p>
        </p:txBody>
      </p:sp>
      <p:sp>
        <p:nvSpPr>
          <p:cNvPr id="13" name="Text 13"/>
          <p:cNvSpPr txBox="1"/>
          <p:nvPr/>
        </p:nvSpPr>
        <p:spPr>
          <a:xfrm>
            <a:off x="8229600" y="3154680"/>
            <a:ext cx="2743200" cy="1691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526777"/>
                </a:solidFill>
                <a:latin typeface="Aptos"/>
              </a:rPr>
              <a:t>Explore further</a:t>
            </a:r>
            <a:endParaRPr lang="en-US" sz="1400"/>
          </a:p>
          <a:p>
            <a:pPr/>
            <a:r>
              <a:rPr lang="en-US" sz="1400" b="0">
                <a:solidFill>
                  <a:srgbClr val="526777"/>
                </a:solidFill>
                <a:latin typeface="Aptos"/>
              </a:rPr>
              <a:t>Sales-mix drill-down</a:t>
            </a:r>
            <a:endParaRPr lang="en-US" sz="1400"/>
          </a:p>
          <a:p>
            <a:pPr/>
            <a:r>
              <a:rPr lang="en-US" sz="1400" b="0">
                <a:solidFill>
                  <a:srgbClr val="526777"/>
                </a:solidFill>
                <a:latin typeface="Aptos"/>
              </a:rPr>
              <a:t>Hover details · CSV download</a:t>
            </a:r>
            <a:endParaRPr lang="en-US" sz="1400"/>
          </a:p>
        </p:txBody>
      </p:sp>
      <p:sp>
        <p:nvSpPr>
          <p:cNvPr id="14" name="Line 14"/>
          <p:cNvSpPr/>
          <p:nvPr/>
        </p:nvSpPr>
        <p:spPr>
          <a:xfrm>
            <a:off x="868680" y="2852928"/>
            <a:ext cx="10104120" cy="914"/>
          </a:xfrm>
          <a:prstGeom prst="line">
            <a:avLst/>
          </a:prstGeom>
          <a:ln w="12700">
            <a:solidFill>
              <a:srgbClr val="D8E1E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868680" y="534924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500" b="1">
                <a:solidFill>
                  <a:srgbClr val="0072B2"/>
                </a:solidFill>
                <a:latin typeface="Aptos"/>
              </a:rPr>
              <a:t>Demo: change a country or year range, switch the trend measure, open a country detail, then export the filtered rows.</a:t>
            </a:r>
            <a:endParaRPr lang="en-US" sz="1500"/>
          </a:p>
        </p:txBody>
      </p:sp>
      <p:sp>
        <p:nvSpPr>
          <p:cNvPr id="16" name="Text 16"/>
          <p:cNvSpPr txBox="1"/>
          <p:nvPr/>
        </p:nvSpPr>
        <p:spPr>
          <a:xfrm>
            <a:off x="10469880" y="65013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850" b="0">
                <a:solidFill>
                  <a:srgbClr val="526777"/>
                </a:solidFill>
                <a:latin typeface="Aptos"/>
              </a:rPr>
              <a:t>BISL504  /  04</a:t>
            </a:r>
            <a:endParaRPr lang="en-US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58368" y="384048"/>
            <a:ext cx="108813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700" b="1">
                <a:solidFill>
                  <a:srgbClr val="183B56"/>
                </a:solidFill>
                <a:latin typeface="Aptos"/>
              </a:rPr>
              <a:t>EV market share rose across the country sample</a:t>
            </a:r>
            <a:endParaRPr lang="en-US" sz="2700"/>
          </a:p>
        </p:txBody>
      </p:sp>
      <p:sp>
        <p:nvSpPr>
          <p:cNvPr id="4" name="Shape 4"/>
          <p:cNvSpPr/>
          <p:nvPr/>
        </p:nvSpPr>
        <p:spPr>
          <a:xfrm>
            <a:off x="658368" y="987552"/>
            <a:ext cx="530352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50" b="0">
                <a:solidFill>
                  <a:srgbClr val="526777"/>
                </a:solidFill>
                <a:latin typeface="Aptos"/>
              </a:rPr>
              <a:t>Unweighted mean of country-level market share; values are percentages.</a:t>
            </a:r>
            <a:endParaRPr lang="en-US" sz="1250"/>
          </a:p>
        </p:txBody>
      </p:sp>
      <p:sp>
        <p:nvSpPr>
          <p:cNvPr id="6" name="Line 6"/>
          <p:cNvSpPr/>
          <p:nvPr/>
        </p:nvSpPr>
        <p:spPr>
          <a:xfrm>
            <a:off x="1508760" y="5257800"/>
            <a:ext cx="8503920" cy="914"/>
          </a:xfrm>
          <a:prstGeom prst="line">
            <a:avLst/>
          </a:prstGeom>
          <a:ln w="12700">
            <a:solidFill>
              <a:srgbClr val="526777"/>
            </a:solidFill>
          </a:ln>
        </p:spPr>
      </p:sp>
      <p:sp>
        <p:nvSpPr>
          <p:cNvPr id="7" name="Line 7"/>
          <p:cNvSpPr/>
          <p:nvPr/>
        </p:nvSpPr>
        <p:spPr>
          <a:xfrm>
            <a:off x="1508760" y="5257800"/>
            <a:ext cx="8503920" cy="914"/>
          </a:xfrm>
          <a:prstGeom prst="line">
            <a:avLst/>
          </a:prstGeom>
          <a:ln w="6985">
            <a:solidFill>
              <a:srgbClr val="E5EBF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50392" y="514807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00" b="0">
                <a:solidFill>
                  <a:srgbClr val="526777"/>
                </a:solidFill>
                <a:latin typeface="Aptos"/>
              </a:rPr>
              <a:t>0</a:t>
            </a:r>
            <a:endParaRPr lang="en-US" sz="1000"/>
          </a:p>
        </p:txBody>
      </p:sp>
      <p:sp>
        <p:nvSpPr>
          <p:cNvPr id="9" name="Line 9"/>
          <p:cNvSpPr/>
          <p:nvPr/>
        </p:nvSpPr>
        <p:spPr>
          <a:xfrm>
            <a:off x="1508760" y="4590288"/>
            <a:ext cx="8503920" cy="914"/>
          </a:xfrm>
          <a:prstGeom prst="line">
            <a:avLst/>
          </a:prstGeom>
          <a:ln w="6985">
            <a:solidFill>
              <a:srgbClr val="E5EBF0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850392" y="44805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00" b="0">
                <a:solidFill>
                  <a:srgbClr val="526777"/>
                </a:solidFill>
                <a:latin typeface="Aptos"/>
              </a:rPr>
              <a:t>5</a:t>
            </a:r>
            <a:endParaRPr lang="en-US" sz="1000"/>
          </a:p>
        </p:txBody>
      </p:sp>
      <p:sp>
        <p:nvSpPr>
          <p:cNvPr id="11" name="Line 11"/>
          <p:cNvSpPr/>
          <p:nvPr/>
        </p:nvSpPr>
        <p:spPr>
          <a:xfrm>
            <a:off x="1508760" y="3922776"/>
            <a:ext cx="8503920" cy="914"/>
          </a:xfrm>
          <a:prstGeom prst="line">
            <a:avLst/>
          </a:prstGeom>
          <a:ln w="6985">
            <a:solidFill>
              <a:srgbClr val="E5EBF0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850392" y="381304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00" b="0">
                <a:solidFill>
                  <a:srgbClr val="526777"/>
                </a:solidFill>
                <a:latin typeface="Aptos"/>
              </a:rPr>
              <a:t>10</a:t>
            </a:r>
            <a:endParaRPr lang="en-US" sz="1000"/>
          </a:p>
        </p:txBody>
      </p:sp>
      <p:sp>
        <p:nvSpPr>
          <p:cNvPr id="13" name="Line 13"/>
          <p:cNvSpPr/>
          <p:nvPr/>
        </p:nvSpPr>
        <p:spPr>
          <a:xfrm>
            <a:off x="1508760" y="3255264"/>
            <a:ext cx="8503920" cy="914"/>
          </a:xfrm>
          <a:prstGeom prst="line">
            <a:avLst/>
          </a:prstGeom>
          <a:ln w="6985">
            <a:solidFill>
              <a:srgbClr val="E5EBF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850392" y="3145536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00" b="0">
                <a:solidFill>
                  <a:srgbClr val="526777"/>
                </a:solidFill>
                <a:latin typeface="Aptos"/>
              </a:rPr>
              <a:t>15</a:t>
            </a:r>
            <a:endParaRPr lang="en-US" sz="1000"/>
          </a:p>
        </p:txBody>
      </p:sp>
      <p:sp>
        <p:nvSpPr>
          <p:cNvPr id="15" name="Line 15"/>
          <p:cNvSpPr/>
          <p:nvPr/>
        </p:nvSpPr>
        <p:spPr>
          <a:xfrm>
            <a:off x="1508760" y="2587752"/>
            <a:ext cx="8503920" cy="914"/>
          </a:xfrm>
          <a:prstGeom prst="line">
            <a:avLst/>
          </a:prstGeom>
          <a:ln w="6985">
            <a:solidFill>
              <a:srgbClr val="E5EBF0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50392" y="247802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00" b="0">
                <a:solidFill>
                  <a:srgbClr val="526777"/>
                </a:solidFill>
                <a:latin typeface="Aptos"/>
              </a:rPr>
              <a:t>20</a:t>
            </a:r>
            <a:endParaRPr lang="en-US" sz="1000"/>
          </a:p>
        </p:txBody>
      </p:sp>
      <p:sp>
        <p:nvSpPr>
          <p:cNvPr id="17" name="Line 17"/>
          <p:cNvSpPr/>
          <p:nvPr/>
        </p:nvSpPr>
        <p:spPr>
          <a:xfrm>
            <a:off x="1508760" y="1920240"/>
            <a:ext cx="8503920" cy="914"/>
          </a:xfrm>
          <a:prstGeom prst="line">
            <a:avLst/>
          </a:prstGeom>
          <a:ln w="6985">
            <a:solidFill>
              <a:srgbClr val="E5EBF0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850392" y="181051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00" b="0">
                <a:solidFill>
                  <a:srgbClr val="526777"/>
                </a:solidFill>
                <a:latin typeface="Aptos"/>
              </a:rPr>
              <a:t>25</a:t>
            </a:r>
            <a:endParaRPr lang="en-US" sz="1000"/>
          </a:p>
        </p:txBody>
      </p:sp>
      <p:sp>
        <p:nvSpPr>
          <p:cNvPr id="19" name="Text 19"/>
          <p:cNvSpPr txBox="1"/>
          <p:nvPr/>
        </p:nvSpPr>
        <p:spPr>
          <a:xfrm>
            <a:off x="1234440" y="5404104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50" b="0">
                <a:solidFill>
                  <a:srgbClr val="526777"/>
                </a:solidFill>
                <a:latin typeface="Aptos"/>
              </a:rPr>
              <a:t>2010</a:t>
            </a:r>
            <a:endParaRPr lang="en-US" sz="1050"/>
          </a:p>
        </p:txBody>
      </p:sp>
      <p:sp>
        <p:nvSpPr>
          <p:cNvPr id="20" name="Text 20"/>
          <p:cNvSpPr txBox="1"/>
          <p:nvPr/>
        </p:nvSpPr>
        <p:spPr>
          <a:xfrm>
            <a:off x="4069080" y="5404104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50" b="0">
                <a:solidFill>
                  <a:srgbClr val="526777"/>
                </a:solidFill>
                <a:latin typeface="Aptos"/>
              </a:rPr>
              <a:t>2015</a:t>
            </a:r>
            <a:endParaRPr lang="en-US" sz="1050"/>
          </a:p>
        </p:txBody>
      </p:sp>
      <p:sp>
        <p:nvSpPr>
          <p:cNvPr id="21" name="Text 21"/>
          <p:cNvSpPr txBox="1"/>
          <p:nvPr/>
        </p:nvSpPr>
        <p:spPr>
          <a:xfrm>
            <a:off x="6903720" y="5404104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50" b="0">
                <a:solidFill>
                  <a:srgbClr val="526777"/>
                </a:solidFill>
                <a:latin typeface="Aptos"/>
              </a:rPr>
              <a:t>2020</a:t>
            </a:r>
            <a:endParaRPr lang="en-US" sz="1050"/>
          </a:p>
        </p:txBody>
      </p:sp>
      <p:sp>
        <p:nvSpPr>
          <p:cNvPr id="22" name="Text 22"/>
          <p:cNvSpPr txBox="1"/>
          <p:nvPr/>
        </p:nvSpPr>
        <p:spPr>
          <a:xfrm>
            <a:off x="9738360" y="5404104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050" b="0">
                <a:solidFill>
                  <a:srgbClr val="526777"/>
                </a:solidFill>
                <a:latin typeface="Aptos"/>
              </a:rPr>
              <a:t>2025</a:t>
            </a:r>
            <a:endParaRPr lang="en-US" sz="1050"/>
          </a:p>
        </p:txBody>
      </p:sp>
      <p:sp>
        <p:nvSpPr>
          <p:cNvPr id="23" name="Line 23"/>
          <p:cNvSpPr/>
          <p:nvPr/>
        </p:nvSpPr>
        <p:spPr>
          <a:xfrm flipV="1">
            <a:off x="1508760" y="5091082"/>
            <a:ext cx="2834640" cy="162659"/>
          </a:xfrm>
          <a:prstGeom prst="line">
            <a:avLst/>
          </a:prstGeom>
          <a:ln w="27940">
            <a:solidFill>
              <a:srgbClr val="0072B2"/>
            </a:solidFill>
          </a:ln>
        </p:spPr>
      </p:sp>
      <p:sp>
        <p:nvSpPr>
          <p:cNvPr id="24" name="Line 24"/>
          <p:cNvSpPr/>
          <p:nvPr/>
        </p:nvSpPr>
        <p:spPr>
          <a:xfrm flipV="1">
            <a:off x="4343400" y="4157420"/>
            <a:ext cx="2834640" cy="933662"/>
          </a:xfrm>
          <a:prstGeom prst="line">
            <a:avLst/>
          </a:prstGeom>
          <a:ln w="27940">
            <a:solidFill>
              <a:srgbClr val="0072B2"/>
            </a:solidFill>
          </a:ln>
        </p:spPr>
      </p:sp>
      <p:sp>
        <p:nvSpPr>
          <p:cNvPr id="25" name="Line 25"/>
          <p:cNvSpPr/>
          <p:nvPr/>
        </p:nvSpPr>
        <p:spPr>
          <a:xfrm flipV="1">
            <a:off x="7178040" y="2365070"/>
            <a:ext cx="2834640" cy="1792350"/>
          </a:xfrm>
          <a:prstGeom prst="line">
            <a:avLst/>
          </a:prstGeom>
          <a:ln w="27940">
            <a:solidFill>
              <a:srgbClr val="0072B2"/>
            </a:solidFill>
          </a:ln>
        </p:spPr>
      </p:sp>
      <p:sp>
        <p:nvSpPr>
          <p:cNvPr id="26" name="Shape 26"/>
          <p:cNvSpPr/>
          <p:nvPr/>
        </p:nvSpPr>
        <p:spPr>
          <a:xfrm>
            <a:off x="1449324" y="5194306"/>
            <a:ext cx="118872" cy="118872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1124712" y="481483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183B56"/>
                </a:solidFill>
                <a:latin typeface="Aptos"/>
              </a:rPr>
              <a:t>0.03%</a:t>
            </a:r>
            <a:endParaRPr lang="en-US" sz="1100"/>
          </a:p>
        </p:txBody>
      </p:sp>
      <p:sp>
        <p:nvSpPr>
          <p:cNvPr id="28" name="Shape 28"/>
          <p:cNvSpPr/>
          <p:nvPr/>
        </p:nvSpPr>
        <p:spPr>
          <a:xfrm>
            <a:off x="4283964" y="5031646"/>
            <a:ext cx="118872" cy="118872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3959352" y="465217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183B56"/>
                </a:solidFill>
                <a:latin typeface="Aptos"/>
              </a:rPr>
              <a:t>1.25%</a:t>
            </a:r>
            <a:endParaRPr lang="en-US" sz="1100"/>
          </a:p>
        </p:txBody>
      </p:sp>
      <p:sp>
        <p:nvSpPr>
          <p:cNvPr id="30" name="Shape 30"/>
          <p:cNvSpPr/>
          <p:nvPr/>
        </p:nvSpPr>
        <p:spPr>
          <a:xfrm>
            <a:off x="7118604" y="4097984"/>
            <a:ext cx="118872" cy="118872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6793992" y="371850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183B56"/>
                </a:solidFill>
                <a:latin typeface="Aptos"/>
              </a:rPr>
              <a:t>8.24%</a:t>
            </a:r>
            <a:endParaRPr lang="en-US" sz="1100"/>
          </a:p>
        </p:txBody>
      </p:sp>
      <p:sp>
        <p:nvSpPr>
          <p:cNvPr id="32" name="Shape 32"/>
          <p:cNvSpPr/>
          <p:nvPr/>
        </p:nvSpPr>
        <p:spPr>
          <a:xfrm>
            <a:off x="9953244" y="2305634"/>
            <a:ext cx="118872" cy="118872"/>
          </a:xfrm>
          <a:prstGeom prst="ellipse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9628632" y="1926158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183B56"/>
                </a:solidFill>
                <a:latin typeface="Aptos"/>
              </a:rPr>
              <a:t>21.67%</a:t>
            </a:r>
            <a:endParaRPr lang="en-US" sz="1100"/>
          </a:p>
        </p:txBody>
      </p:sp>
      <p:sp>
        <p:nvSpPr>
          <p:cNvPr id="34" name="Text 34"/>
          <p:cNvSpPr txBox="1"/>
          <p:nvPr/>
        </p:nvSpPr>
        <p:spPr>
          <a:xfrm>
            <a:off x="932688" y="583387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1">
                <a:solidFill>
                  <a:srgbClr val="183B56"/>
                </a:solidFill>
                <a:latin typeface="Aptos"/>
              </a:rPr>
              <a:t>2010: 0.03%     →     2015: 1.25%     →     2020: 8.24%     →     2025: 21.67%</a:t>
            </a:r>
            <a:endParaRPr lang="en-US" sz="1300"/>
          </a:p>
        </p:txBody>
      </p:sp>
      <p:sp>
        <p:nvSpPr>
          <p:cNvPr id="35" name="Text 35"/>
          <p:cNvSpPr txBox="1"/>
          <p:nvPr/>
        </p:nvSpPr>
        <p:spPr>
          <a:xfrm>
            <a:off x="10469880" y="65013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850" b="0">
                <a:solidFill>
                  <a:srgbClr val="526777"/>
                </a:solidFill>
                <a:latin typeface="Aptos"/>
              </a:rPr>
              <a:t>BISL504  /  05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58368" y="384048"/>
            <a:ext cx="108813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700" b="1">
                <a:solidFill>
                  <a:srgbClr val="183B56"/>
                </a:solidFill>
                <a:latin typeface="Aptos"/>
              </a:rPr>
              <a:t>Country differences remain wide in 2025</a:t>
            </a:r>
            <a:endParaRPr lang="en-US" sz="2700"/>
          </a:p>
        </p:txBody>
      </p:sp>
      <p:sp>
        <p:nvSpPr>
          <p:cNvPr id="4" name="Shape 4"/>
          <p:cNvSpPr/>
          <p:nvPr/>
        </p:nvSpPr>
        <p:spPr>
          <a:xfrm>
            <a:off x="658368" y="987552"/>
            <a:ext cx="530352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50" b="0">
                <a:solidFill>
                  <a:srgbClr val="526777"/>
                </a:solidFill>
                <a:latin typeface="Aptos"/>
              </a:rPr>
              <a:t>EV market share by country; a sorted bar makes the ranking easy to compare.</a:t>
            </a:r>
            <a:endParaRPr lang="en-US" sz="1250"/>
          </a:p>
        </p:txBody>
      </p:sp>
      <p:sp>
        <p:nvSpPr>
          <p:cNvPr id="6" name="Text 6"/>
          <p:cNvSpPr txBox="1"/>
          <p:nvPr/>
        </p:nvSpPr>
        <p:spPr>
          <a:xfrm>
            <a:off x="868680" y="1847088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1">
                <a:solidFill>
                  <a:srgbClr val="183B56"/>
                </a:solidFill>
                <a:latin typeface="Aptos"/>
              </a:rPr>
              <a:t>Norway</a:t>
            </a:r>
            <a:endParaRPr lang="en-US" sz="1300"/>
          </a:p>
        </p:txBody>
      </p:sp>
      <p:sp>
        <p:nvSpPr>
          <p:cNvPr id="7" name="Shape 7"/>
          <p:cNvSpPr/>
          <p:nvPr/>
        </p:nvSpPr>
        <p:spPr>
          <a:xfrm>
            <a:off x="2103120" y="1911096"/>
            <a:ext cx="6537379" cy="21945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750227" y="183794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1">
                <a:solidFill>
                  <a:srgbClr val="183B56"/>
                </a:solidFill>
                <a:latin typeface="Aptos"/>
              </a:rPr>
              <a:t>79.96%</a:t>
            </a:r>
            <a:endParaRPr lang="en-US" sz="1200"/>
          </a:p>
        </p:txBody>
      </p:sp>
      <p:sp>
        <p:nvSpPr>
          <p:cNvPr id="9" name="Text 9"/>
          <p:cNvSpPr txBox="1"/>
          <p:nvPr/>
        </p:nvSpPr>
        <p:spPr>
          <a:xfrm>
            <a:off x="868680" y="2295144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0">
                <a:solidFill>
                  <a:srgbClr val="183B56"/>
                </a:solidFill>
                <a:latin typeface="Aptos"/>
              </a:rPr>
              <a:t>Sweden</a:t>
            </a:r>
            <a:endParaRPr lang="en-US" sz="1300"/>
          </a:p>
        </p:txBody>
      </p:sp>
      <p:sp>
        <p:nvSpPr>
          <p:cNvPr id="10" name="Shape 10"/>
          <p:cNvSpPr/>
          <p:nvPr/>
        </p:nvSpPr>
        <p:spPr>
          <a:xfrm>
            <a:off x="2103120" y="2359152"/>
            <a:ext cx="4333180" cy="219456"/>
          </a:xfrm>
          <a:prstGeom prst="rect">
            <a:avLst/>
          </a:prstGeom>
          <a:solidFill>
            <a:srgbClr val="7DAECC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546028" y="228600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1">
                <a:solidFill>
                  <a:srgbClr val="183B56"/>
                </a:solidFill>
                <a:latin typeface="Aptos"/>
              </a:rPr>
              <a:t>53.00%</a:t>
            </a:r>
            <a:endParaRPr lang="en-US" sz="1200"/>
          </a:p>
        </p:txBody>
      </p:sp>
      <p:sp>
        <p:nvSpPr>
          <p:cNvPr id="12" name="Text 12"/>
          <p:cNvSpPr txBox="1"/>
          <p:nvPr/>
        </p:nvSpPr>
        <p:spPr>
          <a:xfrm>
            <a:off x="868680" y="2743200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0">
                <a:solidFill>
                  <a:srgbClr val="183B56"/>
                </a:solidFill>
                <a:latin typeface="Aptos"/>
              </a:rPr>
              <a:t>China</a:t>
            </a:r>
            <a:endParaRPr lang="en-US" sz="1300"/>
          </a:p>
        </p:txBody>
      </p:sp>
      <p:sp>
        <p:nvSpPr>
          <p:cNvPr id="13" name="Shape 13"/>
          <p:cNvSpPr/>
          <p:nvPr/>
        </p:nvSpPr>
        <p:spPr>
          <a:xfrm>
            <a:off x="2103120" y="2807208"/>
            <a:ext cx="3370887" cy="219456"/>
          </a:xfrm>
          <a:prstGeom prst="rect">
            <a:avLst/>
          </a:prstGeom>
          <a:solidFill>
            <a:srgbClr val="7DAECC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5583735" y="2734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1">
                <a:solidFill>
                  <a:srgbClr val="183B56"/>
                </a:solidFill>
                <a:latin typeface="Aptos"/>
              </a:rPr>
              <a:t>41.23%</a:t>
            </a:r>
            <a:endParaRPr lang="en-US" sz="1200"/>
          </a:p>
        </p:txBody>
      </p:sp>
      <p:sp>
        <p:nvSpPr>
          <p:cNvPr id="15" name="Text 15"/>
          <p:cNvSpPr txBox="1"/>
          <p:nvPr/>
        </p:nvSpPr>
        <p:spPr>
          <a:xfrm>
            <a:off x="868680" y="3191256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0">
                <a:solidFill>
                  <a:srgbClr val="183B56"/>
                </a:solidFill>
                <a:latin typeface="Aptos"/>
              </a:rPr>
              <a:t>Netherlands</a:t>
            </a:r>
            <a:endParaRPr lang="en-US" sz="1300"/>
          </a:p>
        </p:txBody>
      </p:sp>
      <p:sp>
        <p:nvSpPr>
          <p:cNvPr id="16" name="Shape 16"/>
          <p:cNvSpPr/>
          <p:nvPr/>
        </p:nvSpPr>
        <p:spPr>
          <a:xfrm>
            <a:off x="2103120" y="3255264"/>
            <a:ext cx="3037314" cy="219456"/>
          </a:xfrm>
          <a:prstGeom prst="rect">
            <a:avLst/>
          </a:prstGeom>
          <a:solidFill>
            <a:srgbClr val="7DAECC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250162" y="3182112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1">
                <a:solidFill>
                  <a:srgbClr val="183B56"/>
                </a:solidFill>
                <a:latin typeface="Aptos"/>
              </a:rPr>
              <a:t>37.15%</a:t>
            </a:r>
            <a:endParaRPr lang="en-US" sz="1200"/>
          </a:p>
        </p:txBody>
      </p:sp>
      <p:sp>
        <p:nvSpPr>
          <p:cNvPr id="18" name="Text 18"/>
          <p:cNvSpPr txBox="1"/>
          <p:nvPr/>
        </p:nvSpPr>
        <p:spPr>
          <a:xfrm>
            <a:off x="868680" y="3639312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0">
                <a:solidFill>
                  <a:srgbClr val="183B56"/>
                </a:solidFill>
                <a:latin typeface="Aptos"/>
              </a:rPr>
              <a:t>Germany</a:t>
            </a:r>
            <a:endParaRPr lang="en-US" sz="1300"/>
          </a:p>
        </p:txBody>
      </p:sp>
      <p:sp>
        <p:nvSpPr>
          <p:cNvPr id="19" name="Shape 19"/>
          <p:cNvSpPr/>
          <p:nvPr/>
        </p:nvSpPr>
        <p:spPr>
          <a:xfrm>
            <a:off x="2103120" y="3703320"/>
            <a:ext cx="2654686" cy="219456"/>
          </a:xfrm>
          <a:prstGeom prst="rect">
            <a:avLst/>
          </a:prstGeom>
          <a:solidFill>
            <a:srgbClr val="7DAECC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4867534" y="36301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1">
                <a:solidFill>
                  <a:srgbClr val="183B56"/>
                </a:solidFill>
                <a:latin typeface="Aptos"/>
              </a:rPr>
              <a:t>32.47%</a:t>
            </a:r>
            <a:endParaRPr lang="en-US" sz="1200"/>
          </a:p>
        </p:txBody>
      </p:sp>
      <p:sp>
        <p:nvSpPr>
          <p:cNvPr id="21" name="Text 21"/>
          <p:cNvSpPr txBox="1"/>
          <p:nvPr/>
        </p:nvSpPr>
        <p:spPr>
          <a:xfrm>
            <a:off x="868680" y="4087368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0">
                <a:solidFill>
                  <a:srgbClr val="183B56"/>
                </a:solidFill>
                <a:latin typeface="Aptos"/>
              </a:rPr>
              <a:t>Belgium</a:t>
            </a:r>
            <a:endParaRPr lang="en-US" sz="1300"/>
          </a:p>
        </p:txBody>
      </p:sp>
      <p:sp>
        <p:nvSpPr>
          <p:cNvPr id="22" name="Shape 22"/>
          <p:cNvSpPr/>
          <p:nvPr/>
        </p:nvSpPr>
        <p:spPr>
          <a:xfrm>
            <a:off x="2103120" y="4151376"/>
            <a:ext cx="2356269" cy="219456"/>
          </a:xfrm>
          <a:prstGeom prst="rect">
            <a:avLst/>
          </a:prstGeom>
          <a:solidFill>
            <a:srgbClr val="7DAECC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4569117" y="407822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1">
                <a:solidFill>
                  <a:srgbClr val="183B56"/>
                </a:solidFill>
                <a:latin typeface="Aptos"/>
              </a:rPr>
              <a:t>28.82%</a:t>
            </a:r>
            <a:endParaRPr lang="en-US" sz="1200"/>
          </a:p>
        </p:txBody>
      </p:sp>
      <p:sp>
        <p:nvSpPr>
          <p:cNvPr id="24" name="Text 24"/>
          <p:cNvSpPr txBox="1"/>
          <p:nvPr/>
        </p:nvSpPr>
        <p:spPr>
          <a:xfrm>
            <a:off x="868680" y="4535424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0">
                <a:solidFill>
                  <a:srgbClr val="183B56"/>
                </a:solidFill>
                <a:latin typeface="Aptos"/>
              </a:rPr>
              <a:t>Switzerland</a:t>
            </a:r>
            <a:endParaRPr lang="en-US" sz="1300"/>
          </a:p>
        </p:txBody>
      </p:sp>
      <p:sp>
        <p:nvSpPr>
          <p:cNvPr id="25" name="Shape 25"/>
          <p:cNvSpPr/>
          <p:nvPr/>
        </p:nvSpPr>
        <p:spPr>
          <a:xfrm>
            <a:off x="2103120" y="4599432"/>
            <a:ext cx="2336647" cy="219456"/>
          </a:xfrm>
          <a:prstGeom prst="rect">
            <a:avLst/>
          </a:prstGeom>
          <a:solidFill>
            <a:srgbClr val="7DAECC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4549495" y="452628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1">
                <a:solidFill>
                  <a:srgbClr val="183B56"/>
                </a:solidFill>
                <a:latin typeface="Aptos"/>
              </a:rPr>
              <a:t>28.58%</a:t>
            </a:r>
            <a:endParaRPr lang="en-US" sz="1200"/>
          </a:p>
        </p:txBody>
      </p:sp>
      <p:sp>
        <p:nvSpPr>
          <p:cNvPr id="27" name="Text 27"/>
          <p:cNvSpPr txBox="1"/>
          <p:nvPr/>
        </p:nvSpPr>
        <p:spPr>
          <a:xfrm>
            <a:off x="868680" y="4983480"/>
            <a:ext cx="11338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0">
                <a:solidFill>
                  <a:srgbClr val="183B56"/>
                </a:solidFill>
                <a:latin typeface="Aptos"/>
              </a:rPr>
              <a:t>Portugal</a:t>
            </a:r>
            <a:endParaRPr lang="en-US" sz="1300"/>
          </a:p>
        </p:txBody>
      </p:sp>
      <p:sp>
        <p:nvSpPr>
          <p:cNvPr id="28" name="Shape 28"/>
          <p:cNvSpPr/>
          <p:nvPr/>
        </p:nvSpPr>
        <p:spPr>
          <a:xfrm>
            <a:off x="2103120" y="5047488"/>
            <a:ext cx="2158414" cy="219456"/>
          </a:xfrm>
          <a:prstGeom prst="rect">
            <a:avLst/>
          </a:prstGeom>
          <a:solidFill>
            <a:srgbClr val="7DAECC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4371262" y="497433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1">
                <a:solidFill>
                  <a:srgbClr val="183B56"/>
                </a:solidFill>
                <a:latin typeface="Aptos"/>
              </a:rPr>
              <a:t>26.40%</a:t>
            </a:r>
            <a:endParaRPr lang="en-US" sz="1200"/>
          </a:p>
        </p:txBody>
      </p:sp>
      <p:sp>
        <p:nvSpPr>
          <p:cNvPr id="30" name="Text 30"/>
          <p:cNvSpPr txBox="1"/>
          <p:nvPr/>
        </p:nvSpPr>
        <p:spPr>
          <a:xfrm>
            <a:off x="9372600" y="1975104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200" b="1">
                <a:solidFill>
                  <a:srgbClr val="0072B2"/>
                </a:solidFill>
                <a:latin typeface="Aptos"/>
              </a:rPr>
              <a:t>79.96%</a:t>
            </a:r>
            <a:endParaRPr lang="en-US" sz="2200"/>
          </a:p>
        </p:txBody>
      </p:sp>
      <p:sp>
        <p:nvSpPr>
          <p:cNvPr id="31" name="Text 31"/>
          <p:cNvSpPr txBox="1"/>
          <p:nvPr/>
        </p:nvSpPr>
        <p:spPr>
          <a:xfrm>
            <a:off x="9372600" y="2514600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0">
                <a:solidFill>
                  <a:srgbClr val="526777"/>
                </a:solidFill>
                <a:latin typeface="Aptos"/>
              </a:rPr>
              <a:t>Norway led the 2025 sample.</a:t>
            </a:r>
            <a:endParaRPr lang="en-US" sz="1300"/>
          </a:p>
        </p:txBody>
      </p:sp>
      <p:sp>
        <p:nvSpPr>
          <p:cNvPr id="32" name="Text 32"/>
          <p:cNvSpPr txBox="1"/>
          <p:nvPr/>
        </p:nvSpPr>
        <p:spPr>
          <a:xfrm>
            <a:off x="9372600" y="393192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300" b="0">
                <a:solidFill>
                  <a:srgbClr val="183B56"/>
                </a:solidFill>
                <a:latin typeface="Aptos"/>
              </a:rPr>
              <a:t>Sweden 53.00%</a:t>
            </a:r>
            <a:endParaRPr lang="en-US" sz="1300"/>
          </a:p>
          <a:p>
            <a:pPr/>
            <a:r>
              <a:rPr lang="en-US" sz="1300" b="0">
                <a:solidFill>
                  <a:srgbClr val="183B56"/>
                </a:solidFill>
                <a:latin typeface="Aptos"/>
              </a:rPr>
              <a:t>China 41.23%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868680" y="5897880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0">
                <a:solidFill>
                  <a:srgbClr val="526777"/>
                </a:solidFill>
                <a:latin typeface="Aptos"/>
              </a:rPr>
              <a:t>A country ranking describes reported market shares; it does not explain why countries differ.</a:t>
            </a:r>
            <a:endParaRPr lang="en-US" sz="1200"/>
          </a:p>
        </p:txBody>
      </p:sp>
      <p:sp>
        <p:nvSpPr>
          <p:cNvPr id="34" name="Text 34"/>
          <p:cNvSpPr txBox="1"/>
          <p:nvPr/>
        </p:nvSpPr>
        <p:spPr>
          <a:xfrm>
            <a:off x="10469880" y="65013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850" b="0">
                <a:solidFill>
                  <a:srgbClr val="526777"/>
                </a:solidFill>
                <a:latin typeface="Aptos"/>
              </a:rPr>
              <a:t>BISL504  /  06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58368" y="384048"/>
            <a:ext cx="108813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700" b="1">
                <a:solidFill>
                  <a:srgbClr val="183B56"/>
                </a:solidFill>
                <a:latin typeface="Aptos"/>
              </a:rPr>
              <a:t>Accessibility and iteration evidence</a:t>
            </a:r>
            <a:endParaRPr lang="en-US" sz="2700"/>
          </a:p>
        </p:txBody>
      </p:sp>
      <p:sp>
        <p:nvSpPr>
          <p:cNvPr id="4" name="Shape 4"/>
          <p:cNvSpPr/>
          <p:nvPr/>
        </p:nvSpPr>
        <p:spPr>
          <a:xfrm>
            <a:off x="658368" y="987552"/>
            <a:ext cx="530352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50" b="0">
                <a:solidFill>
                  <a:srgbClr val="526777"/>
                </a:solidFill>
                <a:latin typeface="Aptos"/>
              </a:rPr>
              <a:t>The interface uses a colour-blind-safe palette; peer-test evidence still needs to be collected.</a:t>
            </a:r>
            <a:endParaRPr lang="en-US" sz="1250"/>
          </a:p>
        </p:txBody>
      </p:sp>
      <p:sp>
        <p:nvSpPr>
          <p:cNvPr id="6" name="Text 6"/>
          <p:cNvSpPr txBox="1"/>
          <p:nvPr/>
        </p:nvSpPr>
        <p:spPr>
          <a:xfrm>
            <a:off x="868680" y="18470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0072B2"/>
                </a:solidFill>
                <a:latin typeface="Aptos"/>
              </a:rPr>
              <a:t>IN THE DASHBOARD</a:t>
            </a:r>
            <a:endParaRPr lang="en-US" sz="1100"/>
          </a:p>
        </p:txBody>
      </p:sp>
      <p:sp>
        <p:nvSpPr>
          <p:cNvPr id="7" name="Shape 7"/>
          <p:cNvSpPr/>
          <p:nvPr/>
        </p:nvSpPr>
        <p:spPr>
          <a:xfrm>
            <a:off x="868680" y="2386584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69848" y="2267712"/>
            <a:ext cx="4553712" cy="6949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183B56"/>
                </a:solidFill>
                <a:latin typeface="Aptos"/>
              </a:rPr>
              <a:t>Blue, orange and green are distinct Okabe–Ito colours.</a:t>
            </a:r>
            <a:endParaRPr lang="en-US" sz="1400"/>
          </a:p>
        </p:txBody>
      </p:sp>
      <p:sp>
        <p:nvSpPr>
          <p:cNvPr id="9" name="Shape 9"/>
          <p:cNvSpPr/>
          <p:nvPr/>
        </p:nvSpPr>
        <p:spPr>
          <a:xfrm>
            <a:off x="868680" y="3136392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69848" y="3017520"/>
            <a:ext cx="4553712" cy="6949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183B56"/>
                </a:solidFill>
                <a:latin typeface="Aptos"/>
              </a:rPr>
              <a:t>Views use labels and tooltips; colour is not the only cue.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868680" y="3886200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69848" y="3767328"/>
            <a:ext cx="4553712" cy="6949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183B56"/>
                </a:solidFill>
                <a:latin typeface="Aptos"/>
              </a:rPr>
              <a:t>Charts have plain titles, labelled units and restrained gridlines.</a:t>
            </a:r>
            <a:endParaRPr lang="en-US" sz="1400"/>
          </a:p>
        </p:txBody>
      </p:sp>
      <p:sp>
        <p:nvSpPr>
          <p:cNvPr id="13" name="Line 13"/>
          <p:cNvSpPr/>
          <p:nvPr/>
        </p:nvSpPr>
        <p:spPr>
          <a:xfrm>
            <a:off x="6080760" y="1810512"/>
            <a:ext cx="914" cy="3602736"/>
          </a:xfrm>
          <a:prstGeom prst="line">
            <a:avLst/>
          </a:prstGeom>
          <a:ln w="15240">
            <a:solidFill>
              <a:srgbClr val="D8E1E8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419088" y="18470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E69F00"/>
                </a:solidFill>
                <a:latin typeface="Aptos"/>
              </a:rPr>
              <a:t>BEFORE SUBMISSION</a:t>
            </a:r>
            <a:endParaRPr lang="en-US" sz="1100"/>
          </a:p>
        </p:txBody>
      </p:sp>
      <p:sp>
        <p:nvSpPr>
          <p:cNvPr id="15" name="Shape 15"/>
          <p:cNvSpPr/>
          <p:nvPr/>
        </p:nvSpPr>
        <p:spPr>
          <a:xfrm>
            <a:off x="6419088" y="2386584"/>
            <a:ext cx="82296" cy="82296"/>
          </a:xfrm>
          <a:prstGeom prst="rect">
            <a:avLst/>
          </a:prstGeom>
          <a:solidFill>
            <a:srgbClr val="E69F0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620256" y="2267712"/>
            <a:ext cx="4599432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183B56"/>
                </a:solidFill>
                <a:latin typeface="Aptos"/>
              </a:rPr>
              <a:t>Run the three-task peer test with the author silent.</a:t>
            </a: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6419088" y="3099816"/>
            <a:ext cx="82296" cy="82296"/>
          </a:xfrm>
          <a:prstGeom prst="rect">
            <a:avLst/>
          </a:prstGeom>
          <a:solidFill>
            <a:srgbClr val="E69F0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620256" y="2980944"/>
            <a:ext cx="4599432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183B56"/>
                </a:solidFill>
                <a:latin typeface="Aptos"/>
              </a:rPr>
              <a:t>Record answer correctness and time; fix the two main hesitations.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419088" y="3813048"/>
            <a:ext cx="82296" cy="82296"/>
          </a:xfrm>
          <a:prstGeom prst="rect">
            <a:avLst/>
          </a:prstGeom>
          <a:solidFill>
            <a:srgbClr val="E69F00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620256" y="3694176"/>
            <a:ext cx="4599432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183B56"/>
                </a:solidFill>
                <a:latin typeface="Aptos"/>
              </a:rPr>
              <a:t>Add real before/after screenshots and the iteration log.</a:t>
            </a:r>
            <a:endParaRPr lang="en-US" sz="1400"/>
          </a:p>
        </p:txBody>
      </p:sp>
      <p:sp>
        <p:nvSpPr>
          <p:cNvPr id="21" name="Shape 21"/>
          <p:cNvSpPr/>
          <p:nvPr/>
        </p:nvSpPr>
        <p:spPr>
          <a:xfrm>
            <a:off x="6419088" y="4526280"/>
            <a:ext cx="82296" cy="82296"/>
          </a:xfrm>
          <a:prstGeom prst="rect">
            <a:avLst/>
          </a:prstGeom>
          <a:solidFill>
            <a:srgbClr val="E69F00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620256" y="4407408"/>
            <a:ext cx="4599432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00" b="0">
                <a:solidFill>
                  <a:srgbClr val="183B56"/>
                </a:solidFill>
                <a:latin typeface="Aptos"/>
              </a:rPr>
              <a:t>Append the team's actual AI disclosure and one reasoned rejection, if applicable.</a:t>
            </a:r>
            <a:endParaRPr lang="en-US" sz="1400"/>
          </a:p>
        </p:txBody>
      </p:sp>
      <p:sp>
        <p:nvSpPr>
          <p:cNvPr id="23" name="Shape 23"/>
          <p:cNvSpPr/>
          <p:nvPr/>
        </p:nvSpPr>
        <p:spPr>
          <a:xfrm>
            <a:off x="868680" y="5532120"/>
            <a:ext cx="10424160" cy="502920"/>
          </a:xfrm>
          <a:prstGeom prst="rect">
            <a:avLst/>
          </a:prstGeom>
          <a:solidFill>
            <a:srgbClr val="FFF3D8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1024128" y="5596128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1">
                <a:solidFill>
                  <a:srgbClr val="183B56"/>
                </a:solidFill>
                <a:latin typeface="Aptos"/>
              </a:rPr>
              <a:t>No usability findings or screenshot evidence are present in the current repository.</a:t>
            </a:r>
            <a:endParaRPr lang="en-US" sz="1200"/>
          </a:p>
        </p:txBody>
      </p:sp>
      <p:sp>
        <p:nvSpPr>
          <p:cNvPr id="25" name="Text 25"/>
          <p:cNvSpPr txBox="1"/>
          <p:nvPr/>
        </p:nvSpPr>
        <p:spPr>
          <a:xfrm>
            <a:off x="10469880" y="65013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850" b="0">
                <a:solidFill>
                  <a:srgbClr val="526777"/>
                </a:solidFill>
                <a:latin typeface="Aptos"/>
              </a:rPr>
              <a:t>BISL504  /  07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</a:ln>
        </p:spPr>
      </p:sp>
      <p:sp>
        <p:nvSpPr>
          <p:cNvPr id="3" name="Text 3"/>
          <p:cNvSpPr txBox="1"/>
          <p:nvPr/>
        </p:nvSpPr>
        <p:spPr>
          <a:xfrm>
            <a:off x="658368" y="384048"/>
            <a:ext cx="1088136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700" b="1">
                <a:solidFill>
                  <a:srgbClr val="183B56"/>
                </a:solidFill>
                <a:latin typeface="Aptos"/>
              </a:rPr>
              <a:t>Limitations and next steps</a:t>
            </a:r>
            <a:endParaRPr lang="en-US" sz="2700"/>
          </a:p>
        </p:txBody>
      </p:sp>
      <p:sp>
        <p:nvSpPr>
          <p:cNvPr id="4" name="Shape 4"/>
          <p:cNvSpPr/>
          <p:nvPr/>
        </p:nvSpPr>
        <p:spPr>
          <a:xfrm>
            <a:off x="658368" y="987552"/>
            <a:ext cx="530352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50" b="0">
                <a:solidFill>
                  <a:srgbClr val="526777"/>
                </a:solidFill>
                <a:latin typeface="Aptos"/>
              </a:rPr>
              <a:t>The dashboard supports exploration; the dataset sets the limits on what can be concluded.</a:t>
            </a:r>
            <a:endParaRPr lang="en-US" sz="1250"/>
          </a:p>
        </p:txBody>
      </p:sp>
      <p:sp>
        <p:nvSpPr>
          <p:cNvPr id="6" name="Shape 6"/>
          <p:cNvSpPr/>
          <p:nvPr/>
        </p:nvSpPr>
        <p:spPr>
          <a:xfrm>
            <a:off x="868680" y="1947672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1069848" y="1828800"/>
            <a:ext cx="5559552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50" b="0">
                <a:solidFill>
                  <a:srgbClr val="183B56"/>
                </a:solidFill>
                <a:latin typeface="Aptos"/>
              </a:rPr>
              <a:t>Confirm the source and reuse licence for the dataset.</a:t>
            </a:r>
            <a:endParaRPr lang="en-US" sz="1450"/>
          </a:p>
        </p:txBody>
      </p:sp>
      <p:sp>
        <p:nvSpPr>
          <p:cNvPr id="8" name="Shape 8"/>
          <p:cNvSpPr/>
          <p:nvPr/>
        </p:nvSpPr>
        <p:spPr>
          <a:xfrm>
            <a:off x="868680" y="2660904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069848" y="2542032"/>
            <a:ext cx="5559552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50" b="0">
                <a:solidFill>
                  <a:srgbClr val="183B56"/>
                </a:solidFill>
                <a:latin typeface="Aptos"/>
              </a:rPr>
              <a:t>Country averages are unweighted; totals are not population-normalised.</a:t>
            </a:r>
            <a:endParaRPr lang="en-US" sz="1450"/>
          </a:p>
        </p:txBody>
      </p:sp>
      <p:sp>
        <p:nvSpPr>
          <p:cNvPr id="10" name="Shape 10"/>
          <p:cNvSpPr/>
          <p:nvPr/>
        </p:nvSpPr>
        <p:spPr>
          <a:xfrm>
            <a:off x="868680" y="3374136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69848" y="3255264"/>
            <a:ext cx="5559552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50" b="0">
                <a:solidFill>
                  <a:srgbClr val="183B56"/>
                </a:solidFill>
                <a:latin typeface="Aptos"/>
              </a:rPr>
              <a:t>Association between stations and market share is not causal evidence.</a:t>
            </a:r>
            <a:endParaRPr lang="en-US" sz="1450"/>
          </a:p>
        </p:txBody>
      </p:sp>
      <p:sp>
        <p:nvSpPr>
          <p:cNvPr id="12" name="Shape 12"/>
          <p:cNvSpPr/>
          <p:nvPr/>
        </p:nvSpPr>
        <p:spPr>
          <a:xfrm>
            <a:off x="868680" y="4087368"/>
            <a:ext cx="82296" cy="82296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69848" y="3968496"/>
            <a:ext cx="5559552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450" b="0">
                <a:solidFill>
                  <a:srgbClr val="183B56"/>
                </a:solidFill>
                <a:latin typeface="Aptos"/>
              </a:rPr>
              <a:t>Transport emissions include more than passenger cars and EV adoption.</a:t>
            </a:r>
            <a:endParaRPr lang="en-US" sz="1450"/>
          </a:p>
        </p:txBody>
      </p:sp>
      <p:sp>
        <p:nvSpPr>
          <p:cNvPr id="14" name="Line 14"/>
          <p:cNvSpPr/>
          <p:nvPr/>
        </p:nvSpPr>
        <p:spPr>
          <a:xfrm>
            <a:off x="6858000" y="1828800"/>
            <a:ext cx="914" cy="3246120"/>
          </a:xfrm>
          <a:prstGeom prst="line">
            <a:avLst/>
          </a:prstGeom>
          <a:ln w="15240">
            <a:solidFill>
              <a:srgbClr val="D8E1E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7223760" y="18470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100" b="1">
                <a:solidFill>
                  <a:srgbClr val="0072B2"/>
                </a:solidFill>
                <a:latin typeface="Aptos"/>
              </a:rPr>
              <a:t>NEXT</a:t>
            </a:r>
            <a:endParaRPr lang="en-US" sz="1100"/>
          </a:p>
        </p:txBody>
      </p:sp>
      <p:sp>
        <p:nvSpPr>
          <p:cNvPr id="16" name="Text 16"/>
          <p:cNvSpPr txBox="1"/>
          <p:nvPr/>
        </p:nvSpPr>
        <p:spPr>
          <a:xfrm>
            <a:off x="7223760" y="2322576"/>
            <a:ext cx="4114800" cy="102412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2100" b="1">
                <a:solidFill>
                  <a:srgbClr val="183B56"/>
                </a:solidFill>
                <a:latin typeface="Aptos"/>
              </a:rPr>
              <a:t>Verify provenance, complete the usability iteration, and rehearse a live change to a filter or chart.</a:t>
            </a:r>
            <a:endParaRPr lang="en-US" sz="2100"/>
          </a:p>
        </p:txBody>
      </p:sp>
      <p:sp>
        <p:nvSpPr>
          <p:cNvPr id="17" name="Text 17"/>
          <p:cNvSpPr txBox="1"/>
          <p:nvPr/>
        </p:nvSpPr>
        <p:spPr>
          <a:xfrm>
            <a:off x="7223760" y="396849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700" b="1">
                <a:solidFill>
                  <a:srgbClr val="0072B2"/>
                </a:solidFill>
                <a:latin typeface="Aptos"/>
              </a:rPr>
              <a:t>Thank you</a:t>
            </a:r>
            <a:endParaRPr lang="en-US" sz="1700"/>
          </a:p>
          <a:p>
            <a:pPr/>
            <a:r>
              <a:rPr lang="en-US" sz="1700" b="1">
                <a:solidFill>
                  <a:srgbClr val="0072B2"/>
                </a:solidFill>
                <a:latin typeface="Aptos"/>
              </a:rPr>
              <a:t>Questions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868680" y="5650992"/>
            <a:ext cx="10149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1200" b="0">
                <a:solidFill>
                  <a:srgbClr val="526777"/>
                </a:solidFill>
                <a:latin typeface="Aptos"/>
              </a:rPr>
              <a:t>The live presentation and viva are unaided; rehearse beforehand and make sure every member can explain their contribution.</a:t>
            </a:r>
            <a:endParaRPr lang="en-US" sz="1200"/>
          </a:p>
        </p:txBody>
      </p:sp>
      <p:sp>
        <p:nvSpPr>
          <p:cNvPr id="19" name="Text 19"/>
          <p:cNvSpPr txBox="1"/>
          <p:nvPr/>
        </p:nvSpPr>
        <p:spPr>
          <a:xfrm>
            <a:off x="10469880" y="65013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rIns="18288" tIns="18288" bIns="18288"/>
          <a:lstStyle/>
          <a:p>
            <a:pPr/>
            <a:r>
              <a:rPr lang="en-US" sz="850" b="0">
                <a:solidFill>
                  <a:srgbClr val="526777"/>
                </a:solidFill>
                <a:latin typeface="Aptos"/>
              </a:rPr>
              <a:t>BISL504  /  08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Nature Khantal</dc:creator>
  <cp:lastModifiedBy>Nature Khantal</cp:lastModifiedBy>
  <cp:revision>1</cp:revision>
  <dcterms:created xsi:type="dcterms:W3CDTF">2026-10-29T14:48:39Z</dcterms:created>
  <dcterms:modified xsi:type="dcterms:W3CDTF">2026-10-29T14:48:39Z</dcterms:modified>
</cp:coreProperties>
</file>